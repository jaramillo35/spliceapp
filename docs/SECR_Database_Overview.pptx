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509760" y="-1280160"/>
            <a:ext cx="4206240" cy="4206240"/>
          </a:xfrm>
          <a:prstGeom prst="ellipse">
            <a:avLst/>
          </a:prstGeom>
          <a:solidFill>
            <a:srgbClr val="2733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097280" y="5120640"/>
            <a:ext cx="3291840" cy="3291840"/>
          </a:xfrm>
          <a:prstGeom prst="ellipse">
            <a:avLst/>
          </a:prstGeom>
          <a:solidFill>
            <a:srgbClr val="2733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an 3"/>
          <p:cNvSpPr/>
          <p:nvPr/>
        </p:nvSpPr>
        <p:spPr>
          <a:xfrm>
            <a:off x="868680" y="1188720"/>
            <a:ext cx="685800" cy="822960"/>
          </a:xfrm>
          <a:prstGeom prst="can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148840"/>
            <a:ext cx="105156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Cambria"/>
              </a:rPr>
              <a:t>SECR Database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246120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CADCFC"/>
                </a:solidFill>
                <a:latin typeface="Calibri"/>
              </a:rPr>
              <a:t>Automatic, searchable history for every SECR generated in the Splice app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977639"/>
            <a:ext cx="84124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9FB4E8"/>
                </a:solidFill>
                <a:latin typeface="Calibri"/>
              </a:rPr>
              <a:t>Create SECR and Update SECR now persist every record — metadata, affected items, and per-DTCR detail — automatically.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603504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8FA3D8"/>
                </a:solidFill>
                <a:latin typeface="Calibri"/>
              </a:rPr>
              <a:t>Martin Jaramillo  ·  July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Cambria"/>
              </a:rPr>
              <a:t>The problem: generated SECRs leave no trace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5A6478"/>
                </a:solidFill>
                <a:latin typeface="Calibri"/>
              </a:rPr>
              <a:t>Both buttons build the workbook in memory — once downloaded, the app forgets it existed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645920"/>
            <a:ext cx="658368" cy="658368"/>
          </a:xfrm>
          <a:prstGeom prst="ellipse">
            <a:avLst/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10512"/>
            <a:ext cx="65836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1E2761"/>
                </a:solidFill>
                <a:latin typeface="Calibri"/>
              </a:rPr>
              <a:t>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1627632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A1A2E"/>
                </a:solidFill>
                <a:latin typeface="Calibri"/>
              </a:rPr>
              <a:t>No history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029968"/>
            <a:ext cx="521208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A6478"/>
                </a:solidFill>
                <a:latin typeface="Calibri"/>
              </a:rPr>
              <a:t>Each SECR exists only as a downloaded Excel file on someone's machine. No record of what was generated, when, or by whom.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127248"/>
            <a:ext cx="658368" cy="658368"/>
          </a:xfrm>
          <a:prstGeom prst="ellipse">
            <a:avLst/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291839"/>
            <a:ext cx="65836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1E2761"/>
                </a:solidFill>
                <a:latin typeface="Calibri"/>
              </a:rPr>
              <a:t>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310896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A1A2E"/>
                </a:solidFill>
                <a:latin typeface="Calibri"/>
              </a:rPr>
              <a:t>No traceability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3511296"/>
            <a:ext cx="521208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A6478"/>
                </a:solidFill>
                <a:latin typeface="Calibri"/>
              </a:rPr>
              <a:t>No way to answer “which SECRs include DTCR 50319?” or “which SECRs touched circuit A111?” without opening files one by one.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4608576"/>
            <a:ext cx="658368" cy="658368"/>
          </a:xfrm>
          <a:prstGeom prst="ellipse">
            <a:avLst/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773168"/>
            <a:ext cx="65836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1E2761"/>
                </a:solidFill>
                <a:latin typeface="Calibri"/>
              </a:rPr>
              <a:t>#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4590288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A1A2E"/>
                </a:solidFill>
                <a:latin typeface="Calibri"/>
              </a:rPr>
              <a:t>Manual bookkeeping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4992624"/>
            <a:ext cx="521208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A6478"/>
                </a:solidFill>
                <a:latin typeface="Calibri"/>
              </a:rPr>
              <a:t>Sequence numbers, update baselines, and DTCR coverage are tracked by hand — easy to duplicate or miss.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0" y="1737360"/>
            <a:ext cx="4206240" cy="4480560"/>
          </a:xfrm>
          <a:prstGeom prst="roundRect">
            <a:avLst/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35240" y="1965960"/>
            <a:ext cx="3566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A6478"/>
                </a:solidFill>
                <a:latin typeface="Calibri"/>
              </a:rPr>
              <a:t>T O D A 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2395728"/>
            <a:ext cx="3291840" cy="658368"/>
          </a:xfrm>
          <a:prstGeom prst="round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45552" y="2395728"/>
            <a:ext cx="3145536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Create / Update SECR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89720" y="3072384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0" i="0">
                <a:solidFill>
                  <a:srgbClr val="5A6478"/>
                </a:solidFill>
                <a:latin typeface="Calibri"/>
              </a:rPr>
              <a:t>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0" y="3456432"/>
            <a:ext cx="3291840" cy="658368"/>
          </a:xfrm>
          <a:prstGeom prst="roundRect">
            <a:avLst/>
          </a:prstGeom>
          <a:solidFill>
            <a:srgbClr val="D8E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45552" y="3456432"/>
            <a:ext cx="3145536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50" b="1" i="0">
                <a:solidFill>
                  <a:srgbClr val="1A1A2E"/>
                </a:solidFill>
                <a:latin typeface="Calibri"/>
              </a:rPr>
              <a:t>SECR .xlsx download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89720" y="4133087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0" i="0">
                <a:solidFill>
                  <a:srgbClr val="5A6478"/>
                </a:solidFill>
                <a:latin typeface="Calibri"/>
              </a:rPr>
              <a:t>↓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772400" y="4526280"/>
            <a:ext cx="3291840" cy="658368"/>
          </a:xfrm>
          <a:prstGeom prst="roundRect">
            <a:avLst/>
          </a:prstGeom>
          <a:solidFill>
            <a:srgbClr val="FDE3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845552" y="4526280"/>
            <a:ext cx="3145536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50" b="1" i="0">
                <a:solidFill>
                  <a:srgbClr val="B23439"/>
                </a:solidFill>
                <a:latin typeface="Calibri"/>
              </a:rPr>
              <a:t>Record lost when session ends</a:t>
            </a:r>
          </a:p>
        </p:txBody>
      </p:sp>
      <p:sp>
        <p:nvSpPr>
          <p:cNvPr id="26" name="Oval 25"/>
          <p:cNvSpPr/>
          <p:nvPr/>
        </p:nvSpPr>
        <p:spPr>
          <a:xfrm>
            <a:off x="9162288" y="5394960"/>
            <a:ext cx="512064" cy="512064"/>
          </a:xfrm>
          <a:prstGeom prst="ellipse">
            <a:avLst/>
          </a:prstGeom>
          <a:solidFill>
            <a:srgbClr val="FDE3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62288" y="5486400"/>
            <a:ext cx="51206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B23439"/>
                </a:solidFill>
                <a:latin typeface="Calibri"/>
              </a:rPr>
              <a:t>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Cambria"/>
              </a:rPr>
              <a:t>The solution: save on every click, automatically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5A6478"/>
                </a:solidFill>
                <a:latin typeface="Calibri"/>
              </a:rPr>
              <a:t>One new module (secr_db.py) hooked into both buttons — the engineer's workflow does not change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2103120"/>
            <a:ext cx="2468880" cy="777240"/>
          </a:xfrm>
          <a:prstGeom prst="roundRect">
            <a:avLst/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21792" y="2103120"/>
            <a:ext cx="2322576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50" b="1" i="0">
                <a:solidFill>
                  <a:srgbClr val="1A1A2E"/>
                </a:solidFill>
                <a:latin typeface="Calibri"/>
              </a:rPr>
              <a:t>DEF-to-DEF Compare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3154680"/>
            <a:ext cx="2468880" cy="777240"/>
          </a:xfrm>
          <a:prstGeom prst="roundRect">
            <a:avLst/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3154680"/>
            <a:ext cx="2322576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1A1A2E"/>
                </a:solidFill>
                <a:latin typeface="Calibri"/>
              </a:rPr>
              <a:t>DTCR Matching Report</a:t>
            </a:r>
          </a:p>
          <a:p>
            <a:pPr algn="ctr"/>
            <a:r>
              <a:rPr sz="1250" b="1" i="0">
                <a:solidFill>
                  <a:srgbClr val="1A1A2E"/>
                </a:solidFill>
                <a:latin typeface="Calibri"/>
              </a:rPr>
              <a:t>(populates the SECR)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206240"/>
            <a:ext cx="2468880" cy="777240"/>
          </a:xfrm>
          <a:prstGeom prst="roundRect">
            <a:avLst/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4206240"/>
            <a:ext cx="2322576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1A1A2E"/>
                </a:solidFill>
                <a:latin typeface="Calibri"/>
              </a:rPr>
              <a:t>Old SECR baseline</a:t>
            </a:r>
          </a:p>
          <a:p>
            <a:pPr algn="ctr"/>
            <a:r>
              <a:rPr sz="1250" b="1" i="0">
                <a:solidFill>
                  <a:srgbClr val="1A1A2E"/>
                </a:solidFill>
                <a:latin typeface="Calibri"/>
              </a:rPr>
              <a:t>(updates only)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54680" y="3108960"/>
            <a:ext cx="548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0" i="0">
                <a:solidFill>
                  <a:srgbClr val="5A6478"/>
                </a:solidFill>
                <a:latin typeface="Calibri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94760" y="2651760"/>
            <a:ext cx="2743200" cy="1737360"/>
          </a:xfrm>
          <a:prstGeom prst="round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867912" y="2651760"/>
            <a:ext cx="2596896" cy="1737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Create SECR /</a:t>
            </a:r>
          </a:p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Update SECR</a:t>
            </a:r>
          </a:p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buttons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56832" y="2377440"/>
            <a:ext cx="548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0" i="0">
                <a:solidFill>
                  <a:srgbClr val="5A6478"/>
                </a:solidFill>
                <a:latin typeface="Calibri"/>
              </a:rPr>
              <a:t>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832" y="4023360"/>
            <a:ext cx="548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0" i="0">
                <a:solidFill>
                  <a:srgbClr val="5A6478"/>
                </a:solidFill>
                <a:latin typeface="Calibri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60920" y="2011680"/>
            <a:ext cx="4023360" cy="1051560"/>
          </a:xfrm>
          <a:prstGeom prst="roundRect">
            <a:avLst/>
          </a:prstGeom>
          <a:solidFill>
            <a:srgbClr val="D8E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34072" y="2011680"/>
            <a:ext cx="3877056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50" b="1" i="0">
                <a:solidFill>
                  <a:srgbClr val="1A1A2E"/>
                </a:solidFill>
                <a:latin typeface="Calibri"/>
              </a:rPr>
              <a:t>SECR workbook download</a:t>
            </a:r>
          </a:p>
          <a:p>
            <a:pPr algn="ctr"/>
            <a:r>
              <a:rPr sz="1350" b="1" i="0">
                <a:solidFill>
                  <a:srgbClr val="1A1A2E"/>
                </a:solidFill>
                <a:latin typeface="Calibri"/>
              </a:rPr>
              <a:t>(unchanged for the user)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60920" y="3611880"/>
            <a:ext cx="4023360" cy="1737360"/>
          </a:xfrm>
          <a:prstGeom prst="roundRect">
            <a:avLst/>
          </a:prstGeom>
          <a:solidFill>
            <a:srgbClr val="162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an 17"/>
          <p:cNvSpPr/>
          <p:nvPr/>
        </p:nvSpPr>
        <p:spPr>
          <a:xfrm>
            <a:off x="7635240" y="3977639"/>
            <a:ext cx="566928" cy="713232"/>
          </a:xfrm>
          <a:prstGeom prst="can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58200" y="3840480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SECR database (SQLite)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58200" y="4315968"/>
            <a:ext cx="2788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CADCFC"/>
                </a:solidFill>
                <a:latin typeface="Calibri"/>
              </a:rPr>
              <a:t>Metadata · affected items · per-DTCR detail, saved in one atomic transaction</a:t>
            </a:r>
          </a:p>
        </p:txBody>
      </p:sp>
      <p:sp>
        <p:nvSpPr>
          <p:cNvPr id="21" name="Oval 20"/>
          <p:cNvSpPr/>
          <p:nvPr/>
        </p:nvSpPr>
        <p:spPr>
          <a:xfrm>
            <a:off x="548640" y="5788152"/>
            <a:ext cx="457200" cy="457200"/>
          </a:xfrm>
          <a:prstGeom prst="ellipse">
            <a:avLst/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5852160"/>
            <a:ext cx="4572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2C8A4B"/>
                </a:solidFill>
                <a:latin typeface="Calibri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5568" y="5788152"/>
            <a:ext cx="329184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78"/>
                </a:solidFill>
                <a:latin typeface="Calibri"/>
              </a:rPr>
              <a:t>Failure-safe: a database error never blocks the download</a:t>
            </a:r>
          </a:p>
        </p:txBody>
      </p:sp>
      <p:sp>
        <p:nvSpPr>
          <p:cNvPr id="24" name="Oval 23"/>
          <p:cNvSpPr/>
          <p:nvPr/>
        </p:nvSpPr>
        <p:spPr>
          <a:xfrm>
            <a:off x="4480559" y="5788152"/>
            <a:ext cx="457200" cy="457200"/>
          </a:xfrm>
          <a:prstGeom prst="ellipse">
            <a:avLst/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0559" y="5852160"/>
            <a:ext cx="4572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2C8A4B"/>
                </a:solidFill>
                <a:latin typeface="Calibri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47488" y="5788152"/>
            <a:ext cx="329184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78"/>
                </a:solidFill>
                <a:latin typeface="Calibri"/>
              </a:rPr>
              <a:t>Zero extra steps — saving happens on the existing buttons</a:t>
            </a:r>
          </a:p>
        </p:txBody>
      </p:sp>
      <p:sp>
        <p:nvSpPr>
          <p:cNvPr id="27" name="Oval 26"/>
          <p:cNvSpPr/>
          <p:nvPr/>
        </p:nvSpPr>
        <p:spPr>
          <a:xfrm>
            <a:off x="8412480" y="5788152"/>
            <a:ext cx="457200" cy="457200"/>
          </a:xfrm>
          <a:prstGeom prst="ellipse">
            <a:avLst/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0" y="5852160"/>
            <a:ext cx="4572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2C8A4B"/>
                </a:solidFill>
                <a:latin typeface="Calibri"/>
              </a:rPr>
              <a:t>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79407" y="5788152"/>
            <a:ext cx="329184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78"/>
                </a:solidFill>
                <a:latin typeface="Calibri"/>
              </a:rPr>
              <a:t>Updates link to their baseline → full revision chain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Cambria"/>
              </a:rPr>
              <a:t>What gets stored: four linked tables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5A6478"/>
                </a:solidFill>
                <a:latin typeface="Calibri"/>
              </a:rPr>
              <a:t>Normalized rows — one item per row — so everything is queryable, not comma-strings in Excel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45920"/>
            <a:ext cx="3749039" cy="3931920"/>
          </a:xfrm>
          <a:prstGeom prst="roundRect">
            <a:avLst/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645920"/>
            <a:ext cx="3749039" cy="457200"/>
          </a:xfrm>
          <a:prstGeom prst="round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645920"/>
            <a:ext cx="3474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ourier New"/>
              </a:rPr>
              <a:t>secr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212848"/>
            <a:ext cx="3419856" cy="32735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1A1A2E"/>
                </a:solidFill>
                <a:latin typeface="Calibri"/>
              </a:rPr>
              <a:t>SECR # + version (unique — no duplicates)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1A1A2E"/>
                </a:solidFill>
                <a:latin typeface="Calibri"/>
              </a:rPr>
              <a:t>MY · program · phase · harness family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1A1A2E"/>
                </a:solidFill>
                <a:latin typeface="Calibri"/>
              </a:rPr>
              <a:t>Subject, author, DRE, requested by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1A1A2E"/>
                </a:solidFill>
                <a:latin typeface="Calibri"/>
              </a:rPr>
              <a:t>Issue / re-issue dates, change type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1A1A2E"/>
                </a:solidFill>
                <a:latin typeface="Calibri"/>
              </a:rPr>
              <a:t>Source DEF filename · created by / at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1A1A2E"/>
                </a:solidFill>
                <a:latin typeface="Calibri"/>
              </a:rPr>
              <a:t>Link to baseline SECR (revision chain)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617720" y="1645920"/>
            <a:ext cx="3520440" cy="1828800"/>
          </a:xfrm>
          <a:prstGeom prst="roundRect">
            <a:avLst/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617720" y="1645920"/>
            <a:ext cx="3520440" cy="457200"/>
          </a:xfrm>
          <a:prstGeom prst="round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82312" y="1645920"/>
            <a:ext cx="32461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ourier New"/>
              </a:rPr>
              <a:t>secr_affected_item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82312" y="2212848"/>
            <a:ext cx="3191256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1A1A2E"/>
                </a:solidFill>
                <a:latin typeface="Calibri"/>
              </a:rPr>
              <a:t>Devices, circuits, part numbers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1A1A2E"/>
                </a:solidFill>
                <a:latin typeface="Calibri"/>
              </a:rPr>
              <a:t>One row per item: ADD / CHG / DELETE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17720" y="3749039"/>
            <a:ext cx="3520440" cy="1828800"/>
          </a:xfrm>
          <a:prstGeom prst="roundRect">
            <a:avLst/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17720" y="3749039"/>
            <a:ext cx="3520440" cy="457200"/>
          </a:xfrm>
          <a:prstGeom prst="roundRect">
            <a:avLst/>
          </a:prstGeom>
          <a:solidFill>
            <a:srgbClr val="508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82312" y="3749039"/>
            <a:ext cx="32461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ourier New"/>
              </a:rPr>
              <a:t>secr_dtcr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82312" y="4315968"/>
            <a:ext cx="3191256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1A1A2E"/>
                </a:solidFill>
                <a:latin typeface="Calibri"/>
              </a:rPr>
              <a:t>One row per DTCR that populated the SECR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1A1A2E"/>
                </a:solidFill>
                <a:latin typeface="Calibri"/>
              </a:rPr>
              <a:t>Device transmittal, reason, status, CNUM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58200" y="3749039"/>
            <a:ext cx="3154680" cy="1828800"/>
          </a:xfrm>
          <a:prstGeom prst="roundRect">
            <a:avLst/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458200" y="3749039"/>
            <a:ext cx="3154680" cy="457200"/>
          </a:xfrm>
          <a:prstGeom prst="roundRect">
            <a:avLst/>
          </a:prstGeom>
          <a:solidFill>
            <a:srgbClr val="508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22792" y="3749039"/>
            <a:ext cx="28803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ourier New"/>
              </a:rPr>
              <a:t>secr_dtcr_circuit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22792" y="4315968"/>
            <a:ext cx="2825496" cy="1170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1A1A2E"/>
                </a:solidFill>
                <a:latin typeface="Calibri"/>
              </a:rPr>
              <a:t>Circuits exploded from each DTCR's CNUM</a:t>
            </a:r>
          </a:p>
          <a:p>
            <a:pPr algn="l">
              <a:spcAft>
                <a:spcPts val="600"/>
              </a:spcAft>
            </a:pPr>
            <a:r>
              <a:rPr sz="1150" b="0" i="0">
                <a:solidFill>
                  <a:srgbClr val="1A1A2E"/>
                </a:solidFill>
                <a:latin typeface="Calibri"/>
              </a:rPr>
              <a:t>“Which SECR touched A111, via which DTCR?”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24528" y="2331720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0" i="0">
                <a:solidFill>
                  <a:srgbClr val="5A6478"/>
                </a:solidFill>
                <a:latin typeface="Calibri"/>
              </a:rPr>
              <a:t>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24528" y="4434840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0" i="0">
                <a:solidFill>
                  <a:srgbClr val="5A6478"/>
                </a:solidFill>
                <a:latin typeface="Calibri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19872" y="4434840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0" i="0">
                <a:solidFill>
                  <a:srgbClr val="5A6478"/>
                </a:solidFill>
                <a:latin typeface="Calibri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58200" y="1737360"/>
            <a:ext cx="31546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5A6478"/>
                </a:solidFill>
                <a:latin typeface="Calibri"/>
              </a:rPr>
              <a:t>From the real 28 RU X1 SECR (D50319A): 59 affected items and 7 IP-family DTCR records captured per save.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A1A2E"/>
                </a:solidFill>
                <a:latin typeface="Cambria"/>
              </a:rPr>
              <a:t>Questions the team can finally answer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5A6478"/>
                </a:solidFill>
                <a:latin typeface="Calibri"/>
              </a:rPr>
              <a:t>Verified today against the real 28 RU X1 SECR and DTCR Matching Report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91640"/>
            <a:ext cx="5349240" cy="1965960"/>
          </a:xfrm>
          <a:prstGeom prst="roundRect">
            <a:avLst/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22959" y="196596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2075687"/>
            <a:ext cx="54864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1E2761"/>
                </a:solidFill>
                <a:latin typeface="Calibri"/>
              </a:rPr>
              <a:t>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1911095"/>
            <a:ext cx="420624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A1A2E"/>
                </a:solidFill>
                <a:latin typeface="Calibri"/>
              </a:rPr>
              <a:t>“Which SECRs include DTCR 49754?”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587752"/>
            <a:ext cx="4160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0B5EA8"/>
                </a:solidFill>
                <a:latin typeface="Courier New"/>
              </a:rPr>
              <a:t>find_by_dtcr('49754')  →  D50319A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3044952"/>
            <a:ext cx="41605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78"/>
                </a:solidFill>
                <a:latin typeface="Calibri"/>
              </a:rPr>
              <a:t>Searches enrichment rows and the DTCR # field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691640"/>
            <a:ext cx="5349240" cy="1965960"/>
          </a:xfrm>
          <a:prstGeom prst="roundRect">
            <a:avLst/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537959" y="1965960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59" y="2075687"/>
            <a:ext cx="54864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1E2761"/>
                </a:solidFill>
                <a:latin typeface="Calibri"/>
              </a:rPr>
              <a:t>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69479" y="1911095"/>
            <a:ext cx="420624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A1A2E"/>
                </a:solidFill>
                <a:latin typeface="Calibri"/>
              </a:rPr>
              <a:t>“Which SECRs touched circuit A111?”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69479" y="2587752"/>
            <a:ext cx="4160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0B5EA8"/>
                </a:solidFill>
                <a:latin typeface="Courier New"/>
              </a:rPr>
              <a:t>find_by_item('A111')  →  D50319A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69479" y="3044952"/>
            <a:ext cx="41605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78"/>
                </a:solidFill>
                <a:latin typeface="Calibri"/>
              </a:rPr>
              <a:t>Works for devices and part numbers too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977639"/>
            <a:ext cx="5349240" cy="1965960"/>
          </a:xfrm>
          <a:prstGeom prst="roundRect">
            <a:avLst/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22959" y="4251959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59" y="4361688"/>
            <a:ext cx="54864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1E2761"/>
                </a:solidFill>
                <a:latin typeface="Calibri"/>
              </a:rPr>
              <a:t>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4197096"/>
            <a:ext cx="420624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A1A2E"/>
                </a:solidFill>
                <a:latin typeface="Calibri"/>
              </a:rPr>
              <a:t>“What is the history of D50319A?”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873752"/>
            <a:ext cx="4160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0B5EA8"/>
                </a:solidFill>
                <a:latin typeface="Courier New"/>
              </a:rPr>
              <a:t>Revision chain:  V1 → V2 → 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5330952"/>
            <a:ext cx="41605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78"/>
                </a:solidFill>
                <a:latin typeface="Calibri"/>
              </a:rPr>
              <a:t>Every update links back to its baseline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3977639"/>
            <a:ext cx="5349240" cy="1965960"/>
          </a:xfrm>
          <a:prstGeom prst="roundRect">
            <a:avLst/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537959" y="4251959"/>
            <a:ext cx="548640" cy="54864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59" y="4361688"/>
            <a:ext cx="54864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1E2761"/>
                </a:solidFill>
                <a:latin typeface="Calibri"/>
              </a:rPr>
              <a:t>#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69479" y="4197096"/>
            <a:ext cx="420624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A1A2E"/>
                </a:solidFill>
                <a:latin typeface="Calibri"/>
              </a:rPr>
              <a:t>“What is the next SECR sequence?”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69479" y="4873752"/>
            <a:ext cx="4160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0B5EA8"/>
                </a:solidFill>
                <a:latin typeface="Courier New"/>
              </a:rPr>
              <a:t>next_sequence()  →  e.g. 1001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69479" y="5330952"/>
            <a:ext cx="416052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A6478"/>
                </a:solidFill>
                <a:latin typeface="Calibri"/>
              </a:rPr>
              <a:t>Can replace today's hardcoded _1000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mbria"/>
              </a:rPr>
              <a:t>Where we are — and what's next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71600"/>
            <a:ext cx="5440680" cy="4572000"/>
          </a:xfrm>
          <a:prstGeom prst="roundRect">
            <a:avLst/>
          </a:prstGeom>
          <a:solidFill>
            <a:srgbClr val="162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0020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7FE3A8"/>
                </a:solidFill>
                <a:latin typeface="Calibri"/>
              </a:rPr>
              <a:t>B U I L T   &amp;   T E S T E D</a:t>
            </a:r>
          </a:p>
        </p:txBody>
      </p:sp>
      <p:sp>
        <p:nvSpPr>
          <p:cNvPr id="5" name="Oval 4"/>
          <p:cNvSpPr/>
          <p:nvPr/>
        </p:nvSpPr>
        <p:spPr>
          <a:xfrm>
            <a:off x="868680" y="2103120"/>
            <a:ext cx="329184" cy="329184"/>
          </a:xfrm>
          <a:prstGeom prst="ellipse">
            <a:avLst/>
          </a:prstGeom>
          <a:solidFill>
            <a:srgbClr val="7FE3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103120"/>
            <a:ext cx="32918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6204F"/>
                </a:solidFill>
                <a:latin typeface="Calibri"/>
              </a:rP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048255"/>
            <a:ext cx="44348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CADCFC"/>
                </a:solidFill>
                <a:latin typeface="Calibri"/>
              </a:rPr>
              <a:t>Database module (secr_db.py) — schema, save, search, revision chain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3017520"/>
            <a:ext cx="329184" cy="329184"/>
          </a:xfrm>
          <a:prstGeom prst="ellipse">
            <a:avLst/>
          </a:prstGeom>
          <a:solidFill>
            <a:srgbClr val="7FE3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017520"/>
            <a:ext cx="32918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6204F"/>
                </a:solidFill>
                <a:latin typeface="Calibri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962656"/>
            <a:ext cx="44348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CADCFC"/>
                </a:solidFill>
                <a:latin typeface="Calibri"/>
              </a:rPr>
              <a:t>Create SECR and Update SECR buttons now save automatically</a:t>
            </a:r>
          </a:p>
        </p:txBody>
      </p:sp>
      <p:sp>
        <p:nvSpPr>
          <p:cNvPr id="11" name="Oval 10"/>
          <p:cNvSpPr/>
          <p:nvPr/>
        </p:nvSpPr>
        <p:spPr>
          <a:xfrm>
            <a:off x="868680" y="3931920"/>
            <a:ext cx="329184" cy="329184"/>
          </a:xfrm>
          <a:prstGeom prst="ellipse">
            <a:avLst/>
          </a:prstGeom>
          <a:solidFill>
            <a:srgbClr val="7FE3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931920"/>
            <a:ext cx="32918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6204F"/>
                </a:solidFill>
                <a:latin typeface="Calibr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877056"/>
            <a:ext cx="44348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CADCFC"/>
                </a:solidFill>
                <a:latin typeface="Calibri"/>
              </a:rPr>
              <a:t>End-to-end test passed on the real 28 RU X1 SECR + DTCR report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846320"/>
            <a:ext cx="329184" cy="329184"/>
          </a:xfrm>
          <a:prstGeom prst="ellipse">
            <a:avLst/>
          </a:prstGeom>
          <a:solidFill>
            <a:srgbClr val="7FE3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846320"/>
            <a:ext cx="32918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6204F"/>
                </a:solidFill>
                <a:latin typeface="Calibri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791456"/>
            <a:ext cx="443484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CADCFC"/>
                </a:solidFill>
                <a:latin typeface="Calibri"/>
              </a:rPr>
              <a:t>Duplicate-safe: regenerating a SECR replaces, never duplicates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1371600"/>
            <a:ext cx="5394960" cy="4572000"/>
          </a:xfrm>
          <a:prstGeom prst="roundRect">
            <a:avLst/>
          </a:prstGeom>
          <a:solidFill>
            <a:srgbClr val="2733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160020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CADCFC"/>
                </a:solidFill>
                <a:latin typeface="Calibri"/>
              </a:rPr>
              <a:t>N E X T   S T E P S</a:t>
            </a:r>
          </a:p>
        </p:txBody>
      </p:sp>
      <p:sp>
        <p:nvSpPr>
          <p:cNvPr id="19" name="Oval 18"/>
          <p:cNvSpPr/>
          <p:nvPr/>
        </p:nvSpPr>
        <p:spPr>
          <a:xfrm>
            <a:off x="6583680" y="2103120"/>
            <a:ext cx="384048" cy="384048"/>
          </a:xfrm>
          <a:prstGeom prst="ellipse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2130551"/>
            <a:ext cx="38404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E2761"/>
                </a:solidFill>
                <a:latin typeface="Calibri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0" y="2048255"/>
            <a:ext cx="4343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CADCFC"/>
                </a:solidFill>
                <a:latin typeface="Calibri"/>
              </a:rPr>
              <a:t>SECR Database page in the app — browse, filter, search, export (~1 day)</a:t>
            </a:r>
          </a:p>
        </p:txBody>
      </p:sp>
      <p:sp>
        <p:nvSpPr>
          <p:cNvPr id="22" name="Oval 21"/>
          <p:cNvSpPr/>
          <p:nvPr/>
        </p:nvSpPr>
        <p:spPr>
          <a:xfrm>
            <a:off x="6583680" y="3017520"/>
            <a:ext cx="384048" cy="384048"/>
          </a:xfrm>
          <a:prstGeom prst="ellipse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0" y="3044951"/>
            <a:ext cx="38404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E2761"/>
                </a:solidFill>
                <a:latin typeface="Calibri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0" y="2962656"/>
            <a:ext cx="4343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CADCFC"/>
                </a:solidFill>
                <a:latin typeface="Calibri"/>
              </a:rPr>
              <a:t>Sequence ranges reserved per program — _1000 for RU, _2000 for DT — auto-assigned from the database, replacing the hardcoded _1000</a:t>
            </a:r>
          </a:p>
        </p:txBody>
      </p:sp>
      <p:sp>
        <p:nvSpPr>
          <p:cNvPr id="25" name="Oval 24"/>
          <p:cNvSpPr/>
          <p:nvPr/>
        </p:nvSpPr>
        <p:spPr>
          <a:xfrm>
            <a:off x="6583680" y="3931920"/>
            <a:ext cx="384048" cy="384048"/>
          </a:xfrm>
          <a:prstGeom prst="ellipse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0" y="3959352"/>
            <a:ext cx="38404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E2761"/>
                </a:solidFill>
                <a:latin typeface="Calibri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32320" y="3877056"/>
            <a:ext cx="4343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CADCFC"/>
                </a:solidFill>
                <a:latin typeface="Calibri"/>
              </a:rPr>
              <a:t>Backfill script to load previously generated SECRs (~half day)</a:t>
            </a:r>
          </a:p>
        </p:txBody>
      </p:sp>
      <p:sp>
        <p:nvSpPr>
          <p:cNvPr id="28" name="Oval 27"/>
          <p:cNvSpPr/>
          <p:nvPr/>
        </p:nvSpPr>
        <p:spPr>
          <a:xfrm>
            <a:off x="6583680" y="4846320"/>
            <a:ext cx="384048" cy="384048"/>
          </a:xfrm>
          <a:prstGeom prst="ellipse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0" y="4873752"/>
            <a:ext cx="38404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1E2761"/>
                </a:solidFill>
                <a:latin typeface="Calibri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32320" y="4791456"/>
            <a:ext cx="4343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CADCFC"/>
                </a:solidFill>
                <a:latin typeface="Calibri"/>
              </a:rPr>
              <a:t>If the app moves to the cloud: swap SQLite for Postgres — schema ports directly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199632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8FA3D8"/>
                </a:solidFill>
                <a:latin typeface="Calibri"/>
              </a:rPr>
              <a:t>Database file: Splice/data/secr_database.db — zero setup, no server, no credentials.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
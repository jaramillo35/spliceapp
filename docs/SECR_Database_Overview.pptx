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73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273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n 3"/>
          <p:cNvSpPr/>
          <p:nvPr/>
        </p:nvSpPr>
        <p:spPr>
          <a:xfrm>
            <a:off x="868680" y="1188720"/>
            <a:ext cx="685800" cy="822960"/>
          </a:xfrm>
          <a:prstGeom prst="ca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SECR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Automatic, searchable history for every SECR generated in the Splice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FB4E8"/>
                </a:solidFill>
                <a:latin typeface="Calibri"/>
              </a:rPr>
              <a:t>Create SECR and Update SECR now persist every record — metadata, affected items, and per-DTCR detail —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D8"/>
                </a:solidFill>
                <a:latin typeface="Calibri"/>
              </a:rPr>
              <a:t>Martin Jaramillo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mbria"/>
              </a:rPr>
              <a:t>The problem: generated SECRs leave no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6478"/>
                </a:solidFill>
                <a:latin typeface="Calibri"/>
              </a:rPr>
              <a:t>Both buttons build the workbook in memory — once downloaded, the app forgets it existed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658368" cy="658368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658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276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No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9968"/>
            <a:ext cx="5212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478"/>
                </a:solidFill>
                <a:latin typeface="Calibri"/>
              </a:rPr>
              <a:t>Each SECR exists only as a downloaded Excel file on someone's machine. No record of what was generated, when, or by whom.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27248"/>
            <a:ext cx="658368" cy="658368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39"/>
            <a:ext cx="658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No 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11296"/>
            <a:ext cx="5212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478"/>
                </a:solidFill>
                <a:latin typeface="Calibri"/>
              </a:rPr>
              <a:t>No way to answer “which SECRs include DTCR 50319?” or “which SECRs touched circuit A111?” without opening files one by one.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08576"/>
            <a:ext cx="658368" cy="658368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73168"/>
            <a:ext cx="658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590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Manual bookkeeping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992624"/>
            <a:ext cx="5212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478"/>
                </a:solidFill>
                <a:latin typeface="Calibri"/>
              </a:rPr>
              <a:t>Sequence numbers, update baselines, and DTCR coverage are tracked by hand — easy to duplicate or miss.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737360"/>
            <a:ext cx="4206240" cy="448056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96596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478"/>
                </a:solidFill>
                <a:latin typeface="Calibri"/>
              </a:rPr>
              <a:t>T O D A 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395728"/>
            <a:ext cx="3291840" cy="65836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2395728"/>
            <a:ext cx="31455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Create / Update SECR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0723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456432"/>
            <a:ext cx="3291840" cy="658368"/>
          </a:xfrm>
          <a:prstGeom prst="roundRect">
            <a:avLst/>
          </a:prstGeom>
          <a:solidFill>
            <a:srgbClr val="D8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3456432"/>
            <a:ext cx="31455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A1A2E"/>
                </a:solidFill>
                <a:latin typeface="Calibri"/>
              </a:rPr>
              <a:t>SECR .xlsx download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13308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526280"/>
            <a:ext cx="3291840" cy="658368"/>
          </a:xfrm>
          <a:prstGeom prst="roundRect">
            <a:avLst/>
          </a:prstGeom>
          <a:solidFill>
            <a:srgbClr val="FD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4526280"/>
            <a:ext cx="314553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B23439"/>
                </a:solidFill>
                <a:latin typeface="Calibri"/>
              </a:rPr>
              <a:t>Record lost when session ends</a:t>
            </a:r>
          </a:p>
        </p:txBody>
      </p:sp>
      <p:sp>
        <p:nvSpPr>
          <p:cNvPr id="26" name="Oval 25"/>
          <p:cNvSpPr/>
          <p:nvPr/>
        </p:nvSpPr>
        <p:spPr>
          <a:xfrm>
            <a:off x="9162288" y="5394960"/>
            <a:ext cx="512064" cy="512064"/>
          </a:xfrm>
          <a:prstGeom prst="ellipse">
            <a:avLst/>
          </a:prstGeom>
          <a:solidFill>
            <a:srgbClr val="FD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486400"/>
            <a:ext cx="5120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B23439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mbria"/>
              </a:rPr>
              <a:t>The solution: save on every click,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6478"/>
                </a:solidFill>
                <a:latin typeface="Calibri"/>
              </a:rPr>
              <a:t>One new module (secr_db.py) hooked into both buttons — the engineer's workflow does not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468880" cy="77724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2103120"/>
            <a:ext cx="232257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A1A2E"/>
                </a:solidFill>
                <a:latin typeface="Calibri"/>
              </a:rPr>
              <a:t>DEF-to-DEF Compare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54680"/>
            <a:ext cx="2468880" cy="77724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154680"/>
            <a:ext cx="232257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1A2E"/>
                </a:solidFill>
                <a:latin typeface="Calibri"/>
              </a:rPr>
              <a:t>DTCR Matching Report</a:t>
            </a:r>
          </a:p>
          <a:p>
            <a:pPr algn="ctr"/>
            <a:r>
              <a:rPr sz="1250" b="1" i="0">
                <a:solidFill>
                  <a:srgbClr val="1A1A2E"/>
                </a:solidFill>
                <a:latin typeface="Calibri"/>
              </a:rPr>
              <a:t>(populates the SECR)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2468880" cy="77724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206240"/>
            <a:ext cx="232257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1A2E"/>
                </a:solidFill>
                <a:latin typeface="Calibri"/>
              </a:rPr>
              <a:t>Old SECR baseline</a:t>
            </a:r>
          </a:p>
          <a:p>
            <a:pPr algn="ctr"/>
            <a:r>
              <a:rPr sz="1250" b="1" i="0">
                <a:solidFill>
                  <a:srgbClr val="1A1A2E"/>
                </a:solidFill>
                <a:latin typeface="Calibri"/>
              </a:rPr>
              <a:t>(updates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1089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651760"/>
            <a:ext cx="2743200" cy="1737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2" y="2651760"/>
            <a:ext cx="2596896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Create SECR /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Update SECR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buttons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011680"/>
            <a:ext cx="4023360" cy="1051560"/>
          </a:xfrm>
          <a:prstGeom prst="roundRect">
            <a:avLst/>
          </a:prstGeom>
          <a:solidFill>
            <a:srgbClr val="D8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2011680"/>
            <a:ext cx="38770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A1A2E"/>
                </a:solidFill>
                <a:latin typeface="Calibri"/>
              </a:rPr>
              <a:t>SECR workbook download</a:t>
            </a:r>
          </a:p>
          <a:p>
            <a:pPr algn="ctr"/>
            <a:r>
              <a:rPr sz="1350" b="1" i="0">
                <a:solidFill>
                  <a:srgbClr val="1A1A2E"/>
                </a:solidFill>
                <a:latin typeface="Calibri"/>
              </a:rPr>
              <a:t>(unchanged for the user)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611880"/>
            <a:ext cx="4023360" cy="1737360"/>
          </a:xfrm>
          <a:prstGeom prst="roundRect">
            <a:avLst/>
          </a:prstGeom>
          <a:solidFill>
            <a:srgbClr val="16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n 17"/>
          <p:cNvSpPr/>
          <p:nvPr/>
        </p:nvSpPr>
        <p:spPr>
          <a:xfrm>
            <a:off x="7635240" y="3977639"/>
            <a:ext cx="566928" cy="713232"/>
          </a:xfrm>
          <a:prstGeom prst="ca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8404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SECR database (SQLite)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315968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Metadata · affected items · per-DTCR detail, saved in one atomic transaction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788152"/>
            <a:ext cx="457200" cy="457200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C8A4B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788152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78"/>
                </a:solidFill>
                <a:latin typeface="Calibri"/>
              </a:rPr>
              <a:t>Failure-safe: a database error never blocks the download</a:t>
            </a:r>
          </a:p>
        </p:txBody>
      </p:sp>
      <p:sp>
        <p:nvSpPr>
          <p:cNvPr id="24" name="Oval 23"/>
          <p:cNvSpPr/>
          <p:nvPr/>
        </p:nvSpPr>
        <p:spPr>
          <a:xfrm>
            <a:off x="4480559" y="5788152"/>
            <a:ext cx="457200" cy="457200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5852160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C8A4B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5788152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78"/>
                </a:solidFill>
                <a:latin typeface="Calibri"/>
              </a:rPr>
              <a:t>Zero extra steps — saving happens on the existing buttons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0" y="5788152"/>
            <a:ext cx="457200" cy="457200"/>
          </a:xfrm>
          <a:prstGeom prst="ellipse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5852160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C8A4B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7" y="5788152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78"/>
                </a:solidFill>
                <a:latin typeface="Calibri"/>
              </a:rPr>
              <a:t>Updates link to their baseline → full revision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mbria"/>
              </a:rPr>
              <a:t>What gets stored: four linked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6478"/>
                </a:solidFill>
                <a:latin typeface="Calibri"/>
              </a:rPr>
              <a:t>Normalized rows — one item per row — so everything is queryable, not comma-strings in Excel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749039" cy="393192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749039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secr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12848"/>
            <a:ext cx="3419856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SECR # + version (unique — no duplicates)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MY · program · phase · harness family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Subject, author, DRE, requested by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Issue / re-issue dates, change type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Source DEF filename · created by / at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Link to baseline SECR (revision chain)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45920"/>
            <a:ext cx="3520440" cy="182880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352044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645920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secr_affected_item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212848"/>
            <a:ext cx="3191256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Devices, circuits, part numbers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One row per item: ADD / CHG /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749039"/>
            <a:ext cx="3520440" cy="182880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3749039"/>
            <a:ext cx="3520440" cy="457200"/>
          </a:xfrm>
          <a:prstGeom prst="roundRect">
            <a:avLst/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3749039"/>
            <a:ext cx="3246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secr_dtcr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4315968"/>
            <a:ext cx="3191256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One row per DTCR that populated the SECR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Device transmittal, reason, status, CNUM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749039"/>
            <a:ext cx="3154680" cy="182880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3749039"/>
            <a:ext cx="3154680" cy="457200"/>
          </a:xfrm>
          <a:prstGeom prst="roundRect">
            <a:avLst/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749039"/>
            <a:ext cx="2880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urier New"/>
              </a:rPr>
              <a:t>secr_dtcr_circuit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4315968"/>
            <a:ext cx="2825496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Circuits exploded from each DTCR's CNUM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“Which SECR touched A111, via which DTCR?”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331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44348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44348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73736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478"/>
                </a:solidFill>
                <a:latin typeface="Calibri"/>
              </a:rPr>
              <a:t>From the real 28 RU X1 SECR (D50319A): 59 affected items and 7 IP-family DTCR records captured per save.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mbria"/>
              </a:rPr>
              <a:t>Questions the team can finally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6478"/>
                </a:solidFill>
                <a:latin typeface="Calibri"/>
              </a:rPr>
              <a:t>Verified today against the real 28 RU X1 SECR and DTCR Matching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49240" cy="196596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75687"/>
            <a:ext cx="548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11095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1A2E"/>
                </a:solidFill>
                <a:latin typeface="Calibri"/>
              </a:rPr>
              <a:t>“Which SECRs include DTCR 49754?”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87752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B5EA8"/>
                </a:solidFill>
                <a:latin typeface="Courier New"/>
              </a:rPr>
              <a:t>find_by_dtcr('49754')  →  D50319A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44952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78"/>
                </a:solidFill>
                <a:latin typeface="Calibri"/>
              </a:rPr>
              <a:t>Searches enrichment rows and the DTCR # field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349240" cy="196596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59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075687"/>
            <a:ext cx="548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1911095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1A2E"/>
                </a:solidFill>
                <a:latin typeface="Calibri"/>
              </a:rPr>
              <a:t>“Which SECRs touched circuit A111?”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587752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B5EA8"/>
                </a:solidFill>
                <a:latin typeface="Courier New"/>
              </a:rPr>
              <a:t>find_by_item('A111')  →  D50319A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3044952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78"/>
                </a:solidFill>
                <a:latin typeface="Calibri"/>
              </a:rPr>
              <a:t>Works for devices and part numbers too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5349240" cy="196596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425195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361688"/>
            <a:ext cx="548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97096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1A2E"/>
                </a:solidFill>
                <a:latin typeface="Calibri"/>
              </a:rPr>
              <a:t>“What is the history of D50319A?”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73752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B5EA8"/>
                </a:solidFill>
                <a:latin typeface="Courier New"/>
              </a:rPr>
              <a:t>Revision chain:  V1 → V2 →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330952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78"/>
                </a:solidFill>
                <a:latin typeface="Calibri"/>
              </a:rPr>
              <a:t>Every update links back to its 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77639"/>
            <a:ext cx="5349240" cy="1965960"/>
          </a:xfrm>
          <a:prstGeom prst="round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59" y="425195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4361688"/>
            <a:ext cx="548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4197096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1A2E"/>
                </a:solidFill>
                <a:latin typeface="Calibri"/>
              </a:rPr>
              <a:t>“What is the next SECR sequence?”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4873752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B5EA8"/>
                </a:solidFill>
                <a:latin typeface="Courier New"/>
              </a:rPr>
              <a:t>next_sequence()  →  e.g. 1001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5330952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78"/>
                </a:solidFill>
                <a:latin typeface="Calibri"/>
              </a:rPr>
              <a:t>Can replace today's hardcoded _1000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Where we are — and 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4572000"/>
          </a:xfrm>
          <a:prstGeom prst="roundRect">
            <a:avLst/>
          </a:prstGeom>
          <a:solidFill>
            <a:srgbClr val="16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E3A8"/>
                </a:solidFill>
                <a:latin typeface="Calibri"/>
              </a:rPr>
              <a:t>B U I L T   &amp;   T E S T E D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329184" cy="329184"/>
          </a:xfrm>
          <a:prstGeom prst="ellipse">
            <a:avLst/>
          </a:prstGeom>
          <a:solidFill>
            <a:srgbClr val="7FE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6204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48255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Database module (secr_db.py) — schema, save, search, revision chain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017520"/>
            <a:ext cx="329184" cy="329184"/>
          </a:xfrm>
          <a:prstGeom prst="ellipse">
            <a:avLst/>
          </a:prstGeom>
          <a:solidFill>
            <a:srgbClr val="7FE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6204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62656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Create SECR and Update SECR buttons now save automatically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31920"/>
            <a:ext cx="329184" cy="329184"/>
          </a:xfrm>
          <a:prstGeom prst="ellipse">
            <a:avLst/>
          </a:prstGeom>
          <a:solidFill>
            <a:srgbClr val="7FE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6204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77056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End-to-end test passed on the real 28 RU X1 SECR + DTCR report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846320"/>
            <a:ext cx="329184" cy="329184"/>
          </a:xfrm>
          <a:prstGeom prst="ellipse">
            <a:avLst/>
          </a:prstGeom>
          <a:solidFill>
            <a:srgbClr val="7FE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6204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91456"/>
            <a:ext cx="4434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Duplicate-safe: regenerating a SECR replaces, never duplicates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71600"/>
            <a:ext cx="5394960" cy="4572000"/>
          </a:xfrm>
          <a:prstGeom prst="roundRect">
            <a:avLst/>
          </a:prstGeom>
          <a:solidFill>
            <a:srgbClr val="273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N E X T   S T E P S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103120"/>
            <a:ext cx="384048" cy="3840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30551"/>
            <a:ext cx="384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48255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SECR Database page in the app — browse, filter, search, export (~1 day)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017520"/>
            <a:ext cx="384048" cy="3840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044951"/>
            <a:ext cx="384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62656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Auto sequence numbering from the database, replacing hardcoded _1000 (~half day)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931920"/>
            <a:ext cx="384048" cy="3840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59352"/>
            <a:ext cx="384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877056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Backfill script to load previously generated SECRs (~half day)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846320"/>
            <a:ext cx="384048" cy="3840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873752"/>
            <a:ext cx="384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791456"/>
            <a:ext cx="4343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If the app moves to the cloud: swap SQLite for Postgres — schema ports directly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996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A3D8"/>
                </a:solidFill>
                <a:latin typeface="Calibri"/>
              </a:rPr>
              <a:t>Database file: Splice/data/secr_database.db — zero setup, no server, no credentials.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